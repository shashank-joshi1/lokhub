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A2986-3EDC-4DCD-BD57-683704BF58A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A42A3-1B9D-49D2-A8F8-76BC22401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55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A42A3-1B9D-49D2-A8F8-76BC22401A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8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6017-5CCD-5E98-D702-B8805E263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E60EF-6DD8-7981-58CB-D9AEF71EC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6C09-78EA-BC85-1525-156B451C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D9CF9-28CD-684E-700B-B56B99BD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39D0-373D-42E5-77C0-6E7EFBE3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2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C66D-A8BD-3905-296D-F54F6516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66FA-D14C-AC03-8D44-714ACBF9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7DD8F-8F3C-6924-F618-9F26EF6B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B5465-368C-B1C4-5544-A649064E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D9891-4E1E-5255-41A0-42CAFBCD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23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AE90-39D9-4A7A-5A20-01EE8A8D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05F26-CC56-04A4-9361-0ECC52E28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7979A-F9AE-283A-9FD5-F78A7226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76D3-95FD-DBE2-DB06-BF980D20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671E9-2EA2-6CA0-1187-ED33CAF8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0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6FC2-0E89-2986-D7F7-3A779F50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2377-49AF-2EB2-425D-A12097939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FDC9-EC08-9D64-5BC8-0470AD24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03AF2-072E-96B0-04BF-6D71981F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E1130-E39F-4ED0-AA20-F7A31ECB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16DC7-5195-8993-6B3C-0B0524B6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4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4798-8D3A-376F-A27F-2F57D57B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B7DAC-2267-2AE2-4BF2-3E9935640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6944E-0B3E-C76E-84EB-299508549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D3A28-975B-C84F-F502-E1FEBFBCF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13C73-E159-0DEA-F7F0-DBC627B37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F1277-AE7C-C861-F7A6-081945C9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0A577-F131-A83F-C38D-2525FA10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60898-EB36-9CF3-624D-63C1DC27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58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E96B-202D-F9BA-2FCB-5FEDB6BA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432BB-79FF-6B2A-5C1B-129D2459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22617-D880-A8DA-FCBF-A2C12AB7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C171A-6D5C-385C-444E-784B4D48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24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3D011-AA50-70C3-C2DF-6E71B74F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C84E4-D6C0-C24A-8D94-7D1A458B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404D9-8A0B-6127-CD0E-2B736D19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4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145F-6F0B-74BD-C43C-D9A1F995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CC1EC-5AE3-A7BE-8E94-0CE8E9EBF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D3AD-EF09-D58E-CB1F-5B3F86300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C80F5-EDFF-96BA-D44E-CAD5BE54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99170-DF7A-617E-E267-7250D046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E1161-39CC-95E7-CF31-C2B15C7D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57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8AB8-D308-3EF4-AE02-E51A4798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A27B4-1E78-4D9E-3E96-832F3A2C3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6BF0-95A2-BFB7-55FB-EB3DC6E10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0D41E-503C-2298-0731-64033373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35CE8-E295-C0CE-8EAE-41924FAD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AC87D-88CF-D045-CD76-F69AB235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495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3AB5-A76E-77A8-1F99-2B49E5FF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64982-2CF0-24C8-101F-BA2F3F2A8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628E-739C-7303-FB04-ED257070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1163-C2F7-A70A-BDE6-F38FE1B5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95452-06CB-BD15-3E5D-E070FC18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82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4EAA9-CE84-6D47-C870-05B60166E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F9E1C-58A7-6924-B66E-4671D2566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86C1-7C6D-C0D6-0A59-B9FF5F49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C6FCE-001C-B3E4-77CC-AED502D7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E58F-C278-B69A-A509-90095E1C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27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72C10E-2C40-7FA8-B642-302309AE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6897B-6AFA-8316-3B01-D0A68E07A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BAA30-E3A6-D8A0-FDD3-2243409AE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5439F-0B94-404C-8CD5-564136C052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40E4-7FE0-7C52-A29F-658B9F5E0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82B97-4C28-90BE-B5B6-51487C93D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ED145-3887-4905-9A43-44DA1F24D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96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9B5E-A668-1373-691F-DE239BFDF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-176980"/>
            <a:ext cx="9144000" cy="1396028"/>
          </a:xfrm>
        </p:spPr>
        <p:txBody>
          <a:bodyPr>
            <a:normAutofit/>
          </a:bodyPr>
          <a:lstStyle/>
          <a:p>
            <a:r>
              <a:rPr lang="en-US" sz="8000" b="1" dirty="0" err="1">
                <a:latin typeface="Algerian" panose="04020705040A02060702" pitchFamily="82" charset="0"/>
              </a:rPr>
              <a:t>Lokhub</a:t>
            </a:r>
            <a:endParaRPr lang="en-IN" sz="8000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E893D-7E9C-8042-FE82-84374CBA3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19" y="2585884"/>
            <a:ext cx="11238271" cy="3908321"/>
          </a:xfrm>
        </p:spPr>
        <p:txBody>
          <a:bodyPr>
            <a:normAutofit/>
          </a:bodyPr>
          <a:lstStyle/>
          <a:p>
            <a:r>
              <a:rPr lang="en-US" sz="1800" dirty="0"/>
              <a:t>India’s First Ever Platform Dedicated to Securing Exam Papers leaks &amp; Sensitive Documents</a:t>
            </a:r>
          </a:p>
          <a:p>
            <a:pPr algn="l"/>
            <a:endParaRPr lang="en-US" sz="1800" b="1" dirty="0"/>
          </a:p>
          <a:p>
            <a:pPr algn="l"/>
            <a:endParaRPr lang="en-US" sz="1800" b="1" dirty="0"/>
          </a:p>
          <a:p>
            <a:pPr algn="l"/>
            <a:endParaRPr lang="en-US" sz="1800" b="1" dirty="0"/>
          </a:p>
          <a:p>
            <a:pPr algn="l"/>
            <a:endParaRPr lang="en-US" sz="2000" dirty="0"/>
          </a:p>
          <a:p>
            <a:pPr algn="l"/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CB2FE-F7F1-9D79-EC4F-6732F7A674EF}"/>
              </a:ext>
            </a:extLst>
          </p:cNvPr>
          <p:cNvSpPr txBox="1"/>
          <p:nvPr/>
        </p:nvSpPr>
        <p:spPr>
          <a:xfrm>
            <a:off x="7983794" y="390445"/>
            <a:ext cx="644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-Next-Gen Digital Locker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A347F-C4FA-9A71-38C5-9495348CDCAB}"/>
              </a:ext>
            </a:extLst>
          </p:cNvPr>
          <p:cNvSpPr txBox="1"/>
          <p:nvPr/>
        </p:nvSpPr>
        <p:spPr>
          <a:xfrm>
            <a:off x="1769806" y="1238712"/>
            <a:ext cx="94389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Bringing trust , transparency and security to Indian records. “ Secure , Decentralized, future-ready”</a:t>
            </a:r>
          </a:p>
          <a:p>
            <a:pPr algn="ctr"/>
            <a:r>
              <a:rPr lang="en-US" dirty="0">
                <a:latin typeface="+mj-lt"/>
              </a:rPr>
              <a:t>                              </a:t>
            </a:r>
            <a:r>
              <a:rPr lang="en-US" dirty="0"/>
              <a:t>Blockchain and cloud powered Digital locker Ecosystem</a:t>
            </a:r>
          </a:p>
          <a:p>
            <a:endParaRPr lang="en-IN" dirty="0"/>
          </a:p>
          <a:p>
            <a:pPr algn="ctr"/>
            <a:r>
              <a:rPr lang="en-IN" sz="2000" b="1" dirty="0"/>
              <a:t>     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58512-99F4-0518-EA9A-DC04DF2AE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368" y="2948753"/>
            <a:ext cx="5624368" cy="339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9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2C024-D108-D720-9ADE-56D4C419D747}"/>
              </a:ext>
            </a:extLst>
          </p:cNvPr>
          <p:cNvSpPr txBox="1"/>
          <p:nvPr/>
        </p:nvSpPr>
        <p:spPr>
          <a:xfrm>
            <a:off x="717755" y="452284"/>
            <a:ext cx="1090397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 Introducing LokHub</a:t>
            </a:r>
          </a:p>
          <a:p>
            <a:endParaRPr lang="en-US" dirty="0"/>
          </a:p>
          <a:p>
            <a:r>
              <a:rPr lang="en-US" dirty="0"/>
              <a:t>Every year, India faces repeated cases of </a:t>
            </a:r>
            <a:r>
              <a:rPr lang="en-US" b="1" dirty="0"/>
              <a:t>exam paper leaks, fake certificates, and tampered documents</a:t>
            </a:r>
            <a:r>
              <a:rPr lang="en-US" dirty="0"/>
              <a:t>. These incidents destroy the dreams of students and shake the trust in institutions and governance.</a:t>
            </a:r>
          </a:p>
          <a:p>
            <a:r>
              <a:rPr lang="en-US" b="1" dirty="0"/>
              <a:t>LokHub</a:t>
            </a:r>
            <a:r>
              <a:rPr lang="en-US" dirty="0"/>
              <a:t> is designed to solve this. It is </a:t>
            </a:r>
            <a:r>
              <a:rPr lang="en-US" b="1" dirty="0"/>
              <a:t>India’s first blockchain and cloud-powered digital locker</a:t>
            </a:r>
            <a:r>
              <a:rPr lang="en-US" dirty="0"/>
              <a:t> built especially to keep exam papers and sensitive documents </a:t>
            </a:r>
            <a:r>
              <a:rPr lang="en-US" b="1" dirty="0"/>
              <a:t>tamper-proof, secure, and accessible only to the right people at the right time</a:t>
            </a:r>
            <a:r>
              <a:rPr lang="en-US" dirty="0"/>
              <a:t>.</a:t>
            </a:r>
          </a:p>
          <a:p>
            <a:r>
              <a:rPr lang="en-US" dirty="0"/>
              <a:t>Here’s how it works:</a:t>
            </a:r>
          </a:p>
          <a:p>
            <a:r>
              <a:rPr lang="en-US" dirty="0"/>
              <a:t>1. Documents are given a </a:t>
            </a:r>
            <a:r>
              <a:rPr lang="en-US" b="1" dirty="0"/>
              <a:t>digital seal on blockchain</a:t>
            </a:r>
            <a:r>
              <a:rPr lang="en-US" dirty="0"/>
              <a:t> that cannot be erased or changed.</a:t>
            </a:r>
          </a:p>
          <a:p>
            <a:r>
              <a:rPr lang="en-US" dirty="0"/>
              <a:t>2. Files are stored in </a:t>
            </a:r>
            <a:r>
              <a:rPr lang="en-US" b="1" dirty="0"/>
              <a:t>decentralized storage (IPFS + Cloud)</a:t>
            </a:r>
            <a:r>
              <a:rPr lang="en-US" dirty="0"/>
              <a:t>, preventing hacks and leaks.</a:t>
            </a:r>
          </a:p>
          <a:p>
            <a:r>
              <a:rPr lang="en-US" b="1" dirty="0"/>
              <a:t>3. Smart contracts</a:t>
            </a:r>
            <a:r>
              <a:rPr lang="en-US" dirty="0"/>
              <a:t> control access automatically, removing middlemen.</a:t>
            </a:r>
          </a:p>
          <a:p>
            <a:r>
              <a:rPr lang="en-US" b="1" dirty="0"/>
              <a:t>4. Digital tokens</a:t>
            </a:r>
            <a:r>
              <a:rPr lang="en-US" dirty="0"/>
              <a:t> act like secure keys for students, teachers, and officials.</a:t>
            </a:r>
          </a:p>
          <a:p>
            <a:r>
              <a:rPr lang="en-US" dirty="0"/>
              <a:t>Unlike existing systems, LokHub is </a:t>
            </a:r>
            <a:r>
              <a:rPr lang="en-US" b="1" dirty="0"/>
              <a:t>trustless and insider-proof</a:t>
            </a:r>
            <a:r>
              <a:rPr lang="en-US" dirty="0"/>
              <a:t>. It closes the very loopholes that allow exam leaks and document fraud today.</a:t>
            </a:r>
          </a:p>
          <a:p>
            <a:r>
              <a:rPr lang="en-US" dirty="0"/>
              <a:t>In simple words:</a:t>
            </a:r>
          </a:p>
          <a:p>
            <a:r>
              <a:rPr lang="en-US" b="1" dirty="0"/>
              <a:t>*Students get fair exams</a:t>
            </a:r>
            <a:endParaRPr lang="en-US" dirty="0"/>
          </a:p>
          <a:p>
            <a:r>
              <a:rPr lang="en-US" b="1" dirty="0"/>
              <a:t>*Citizens get secure identity</a:t>
            </a:r>
            <a:endParaRPr lang="en-US" dirty="0"/>
          </a:p>
          <a:p>
            <a:r>
              <a:rPr lang="en-US" b="1" dirty="0"/>
              <a:t>*Institutions get reliable records</a:t>
            </a:r>
            <a:endParaRPr lang="en-US" dirty="0"/>
          </a:p>
          <a:p>
            <a:r>
              <a:rPr lang="en-US" dirty="0"/>
              <a:t>LokHub is not just a project — it is a </a:t>
            </a:r>
            <a:r>
              <a:rPr lang="en-US" b="1" dirty="0"/>
              <a:t>step towards restoring trust in India’s digital future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405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B44A0-BB8E-FF94-DD82-DBAB61894192}"/>
              </a:ext>
            </a:extLst>
          </p:cNvPr>
          <p:cNvSpPr txBox="1"/>
          <p:nvPr/>
        </p:nvSpPr>
        <p:spPr>
          <a:xfrm>
            <a:off x="521110" y="491613"/>
            <a:ext cx="11090787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                   </a:t>
            </a:r>
            <a:r>
              <a:rPr lang="en-US" sz="4000" b="1" u="sng" dirty="0"/>
              <a:t>Why India Needs LokHub Now</a:t>
            </a:r>
          </a:p>
          <a:p>
            <a:endParaRPr lang="en-US" dirty="0"/>
          </a:p>
          <a:p>
            <a:r>
              <a:rPr lang="en-US" dirty="0"/>
              <a:t>In recent years, India has witnessed a </a:t>
            </a:r>
            <a:r>
              <a:rPr lang="en-US" b="1" dirty="0"/>
              <a:t>disturbing rise in exam paper leaks and document fraud</a:t>
            </a:r>
            <a:r>
              <a:rPr lang="en-US" dirty="0"/>
              <a:t>. From competitive exams like UPSC, SSC, and NEET to state-level recruitment tests, a single leak has ruined the dreams of </a:t>
            </a:r>
            <a:r>
              <a:rPr lang="en-US" b="1" dirty="0"/>
              <a:t>lakhs of students</a:t>
            </a:r>
            <a:r>
              <a:rPr lang="en-US" dirty="0"/>
              <a:t>. Families lose trust, genuine efforts go waste, and institutions face massive reputational damage.</a:t>
            </a:r>
          </a:p>
          <a:p>
            <a:r>
              <a:rPr lang="en-US" dirty="0"/>
              <a:t>The problem doesn’t stop at exams. </a:t>
            </a:r>
            <a:r>
              <a:rPr lang="en-US" b="1" dirty="0"/>
              <a:t>Fake certificates, tampered land records, and forged identity documents</a:t>
            </a:r>
            <a:r>
              <a:rPr lang="en-US" dirty="0"/>
              <a:t> are becoming common. Most of these issues happen because today’s systems are </a:t>
            </a:r>
            <a:r>
              <a:rPr lang="en-US" b="1" dirty="0"/>
              <a:t>centralized</a:t>
            </a:r>
            <a:r>
              <a:rPr lang="en-US" dirty="0"/>
              <a:t> — meaning all power lies with a few insiders such as printing press staff, administrators, or server managers. Just one mistake, or one corrupt insider, can bring down the whole system.</a:t>
            </a:r>
          </a:p>
          <a:p>
            <a:r>
              <a:rPr lang="en-US" dirty="0"/>
              <a:t>The cost of these leaks is huge:</a:t>
            </a:r>
          </a:p>
          <a:p>
            <a:r>
              <a:rPr lang="en-US" b="1" dirty="0"/>
              <a:t>For students:</a:t>
            </a:r>
            <a:r>
              <a:rPr lang="en-US" dirty="0"/>
              <a:t> Years of preparation lost in a single night.</a:t>
            </a:r>
          </a:p>
          <a:p>
            <a:r>
              <a:rPr lang="en-US" b="1" dirty="0"/>
              <a:t>For institutions:</a:t>
            </a:r>
            <a:r>
              <a:rPr lang="en-US" dirty="0"/>
              <a:t> Financial loss, loss of credibility, and re-conducting exams at massive expense.</a:t>
            </a:r>
          </a:p>
          <a:p>
            <a:r>
              <a:rPr lang="en-US" b="1" dirty="0"/>
              <a:t>For governance:</a:t>
            </a:r>
            <a:r>
              <a:rPr lang="en-US" dirty="0"/>
              <a:t> Erosion of trust in the education and administrative system.</a:t>
            </a:r>
          </a:p>
          <a:p>
            <a:r>
              <a:rPr lang="en-US" dirty="0"/>
              <a:t>This is where </a:t>
            </a:r>
            <a:r>
              <a:rPr lang="en-US" b="1" dirty="0"/>
              <a:t>LokHub becomes essential</a:t>
            </a:r>
            <a:r>
              <a:rPr lang="en-US" dirty="0"/>
              <a:t>. By using </a:t>
            </a:r>
            <a:r>
              <a:rPr lang="en-US" b="1" dirty="0"/>
              <a:t>blockchain, decentralized storage, and smart contracts</a:t>
            </a:r>
            <a:r>
              <a:rPr lang="en-US" dirty="0"/>
              <a:t>, it eliminates insider risks and makes documents </a:t>
            </a:r>
            <a:r>
              <a:rPr lang="en-US" b="1" dirty="0"/>
              <a:t>tamper-proof and leak-proof</a:t>
            </a:r>
            <a:r>
              <a:rPr lang="en-US" dirty="0"/>
              <a:t>. No single authority can manipulate the system, and every transaction is recorded transparently.</a:t>
            </a:r>
          </a:p>
          <a:p>
            <a:r>
              <a:rPr lang="en-US" dirty="0"/>
              <a:t>In a country where </a:t>
            </a:r>
            <a:r>
              <a:rPr lang="en-US" b="1" dirty="0"/>
              <a:t>youth are the backbone</a:t>
            </a:r>
            <a:r>
              <a:rPr lang="en-US" dirty="0"/>
              <a:t> and fair opportunities matter the most, </a:t>
            </a:r>
            <a:r>
              <a:rPr lang="en-US" b="1" dirty="0"/>
              <a:t>LokHub is not just a solution — it is a necessity.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46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82B9E-3872-C15B-99A6-8C65C1101ED0}"/>
              </a:ext>
            </a:extLst>
          </p:cNvPr>
          <p:cNvSpPr txBox="1"/>
          <p:nvPr/>
        </p:nvSpPr>
        <p:spPr>
          <a:xfrm>
            <a:off x="98322" y="599767"/>
            <a:ext cx="1120877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</a:t>
            </a:r>
            <a:r>
              <a:rPr lang="en-US" sz="4000" b="1" u="sng" dirty="0"/>
              <a:t>How LokHub Works Behind the Scenes(Technology)</a:t>
            </a:r>
          </a:p>
          <a:p>
            <a:endParaRPr lang="en-US" u="sng" dirty="0"/>
          </a:p>
          <a:p>
            <a:r>
              <a:rPr lang="en-US" dirty="0"/>
              <a:t>LokHub is built using a </a:t>
            </a:r>
            <a:r>
              <a:rPr lang="en-US" b="1" dirty="0"/>
              <a:t>combination of advanced but easy-to-use technologies</a:t>
            </a:r>
            <a:r>
              <a:rPr lang="en-US" dirty="0"/>
              <a:t>, each solving a specific problem of leaks, tampering, and insider risks.</a:t>
            </a:r>
          </a:p>
          <a:p>
            <a:endParaRPr lang="en-US" b="1" dirty="0"/>
          </a:p>
          <a:p>
            <a:r>
              <a:rPr lang="en-US" b="1" dirty="0"/>
              <a:t>1. Blockchain</a:t>
            </a:r>
          </a:p>
          <a:p>
            <a:r>
              <a:rPr lang="en-US" dirty="0"/>
              <a:t>Think of it like a </a:t>
            </a:r>
            <a:r>
              <a:rPr lang="en-US" b="1" dirty="0"/>
              <a:t>digital notebook shared by everyone</a:t>
            </a:r>
            <a:r>
              <a:rPr lang="en-US" dirty="0"/>
              <a:t>. Once something is written, it </a:t>
            </a:r>
            <a:r>
              <a:rPr lang="en-US" b="1" dirty="0"/>
              <a:t>cannot be erased or changed</a:t>
            </a:r>
            <a:r>
              <a:rPr lang="en-US" dirty="0"/>
              <a:t>. In LokHub, exam papers and documents get a </a:t>
            </a:r>
            <a:r>
              <a:rPr lang="en-US" b="1" dirty="0"/>
              <a:t>tamper-proof seal</a:t>
            </a:r>
            <a:r>
              <a:rPr lang="en-US" dirty="0"/>
              <a:t>, so no one can secretly edit or leak them.</a:t>
            </a:r>
          </a:p>
          <a:p>
            <a:endParaRPr lang="en-US" b="1" dirty="0"/>
          </a:p>
          <a:p>
            <a:r>
              <a:rPr lang="en-US" b="1" dirty="0"/>
              <a:t>2. Smart Contracts</a:t>
            </a:r>
          </a:p>
          <a:p>
            <a:r>
              <a:rPr lang="en-US" dirty="0"/>
              <a:t>These are </a:t>
            </a:r>
            <a:r>
              <a:rPr lang="en-US" b="1" dirty="0"/>
              <a:t>self-executing rules</a:t>
            </a:r>
            <a:r>
              <a:rPr lang="en-US" dirty="0"/>
              <a:t> stored on blockchain. For example: “Exam paper opens only at 9:00 AM.” No official or insider can change this rule — it is </a:t>
            </a:r>
            <a:r>
              <a:rPr lang="en-US" b="1" dirty="0"/>
              <a:t>automatic and transparent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3. Decentralized Identity (DID)</a:t>
            </a:r>
          </a:p>
          <a:p>
            <a:r>
              <a:rPr lang="en-US" dirty="0"/>
              <a:t>Instead of depending on one server or authority for login, every user gets a </a:t>
            </a:r>
            <a:r>
              <a:rPr lang="en-US" b="1" dirty="0"/>
              <a:t>unique blockchain-based ID</a:t>
            </a:r>
            <a:r>
              <a:rPr lang="en-US" dirty="0"/>
              <a:t> that they control. This means </a:t>
            </a:r>
            <a:r>
              <a:rPr lang="en-US" b="1" dirty="0"/>
              <a:t>only the rightful student, teacher, or official</a:t>
            </a:r>
            <a:r>
              <a:rPr lang="en-US" dirty="0"/>
              <a:t> can access their documents — privacy is protected.</a:t>
            </a:r>
          </a:p>
          <a:p>
            <a:endParaRPr lang="en-US" b="1" dirty="0"/>
          </a:p>
          <a:p>
            <a:r>
              <a:rPr lang="en-US" b="1" dirty="0"/>
              <a:t>4. Cloud Computing (</a:t>
            </a:r>
            <a:r>
              <a:rPr lang="en-US" b="1" dirty="0" err="1"/>
              <a:t>Infura</a:t>
            </a:r>
            <a:r>
              <a:rPr lang="en-US" b="1" dirty="0"/>
              <a:t>)</a:t>
            </a:r>
          </a:p>
          <a:p>
            <a:r>
              <a:rPr lang="en-US" dirty="0"/>
              <a:t>For large-scale exams and records, LokHub uses </a:t>
            </a:r>
            <a:r>
              <a:rPr lang="en-US" b="1" dirty="0"/>
              <a:t>cloud integration</a:t>
            </a:r>
            <a:r>
              <a:rPr lang="en-US" dirty="0"/>
              <a:t> so that data is </a:t>
            </a:r>
            <a:r>
              <a:rPr lang="en-US" b="1" dirty="0"/>
              <a:t>fast, scalable, and available anytime</a:t>
            </a:r>
            <a:r>
              <a:rPr lang="en-US" dirty="0"/>
              <a:t>. It works smoothly even if lakhs of users log in at once.</a:t>
            </a:r>
          </a:p>
        </p:txBody>
      </p:sp>
    </p:spTree>
    <p:extLst>
      <p:ext uri="{BB962C8B-B14F-4D97-AF65-F5344CB8AC3E}">
        <p14:creationId xmlns:p14="http://schemas.microsoft.com/office/powerpoint/2010/main" val="202931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9071D8-ACEF-DA75-EFDD-28BCA9EA3D5A}"/>
              </a:ext>
            </a:extLst>
          </p:cNvPr>
          <p:cNvSpPr txBox="1"/>
          <p:nvPr/>
        </p:nvSpPr>
        <p:spPr>
          <a:xfrm>
            <a:off x="412954" y="196644"/>
            <a:ext cx="1150374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IPFS (InterPlanetary File System)</a:t>
            </a:r>
          </a:p>
          <a:p>
            <a:r>
              <a:rPr lang="en-US" dirty="0"/>
              <a:t>Instead of storing files in one server, IPFS breaks them into </a:t>
            </a:r>
            <a:r>
              <a:rPr lang="en-US" b="1" dirty="0"/>
              <a:t>small pieces stored across many computers</a:t>
            </a:r>
            <a:r>
              <a:rPr lang="en-US" dirty="0"/>
              <a:t>. Even if one server is hacked or fails, the document is still safe. This makes storage </a:t>
            </a:r>
            <a:r>
              <a:rPr lang="en-US" b="1" dirty="0"/>
              <a:t>decentralized and unbreakable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6. Token Layer (ERC-20)</a:t>
            </a:r>
          </a:p>
          <a:p>
            <a:r>
              <a:rPr lang="en-US" dirty="0"/>
              <a:t>Tokens act like </a:t>
            </a:r>
            <a:r>
              <a:rPr lang="en-US" b="1" dirty="0"/>
              <a:t>digital keys</a:t>
            </a:r>
            <a:r>
              <a:rPr lang="en-US" dirty="0"/>
              <a:t>. A teacher might have a “create key,” a student has a “view key,” and an admin has a “manage key.” This ensures </a:t>
            </a:r>
            <a:r>
              <a:rPr lang="en-US" b="1" dirty="0"/>
              <a:t>role-based, controlled access</a:t>
            </a:r>
            <a:r>
              <a:rPr lang="en-US" dirty="0"/>
              <a:t> without manual approvals.</a:t>
            </a:r>
          </a:p>
          <a:p>
            <a:endParaRPr lang="en-US" b="1" dirty="0"/>
          </a:p>
          <a:p>
            <a:r>
              <a:rPr lang="en-US" b="1" dirty="0"/>
              <a:t>7. React.js Dashboard</a:t>
            </a:r>
          </a:p>
          <a:p>
            <a:r>
              <a:rPr lang="en-US" dirty="0"/>
              <a:t>All this advanced technology is wrapped in a </a:t>
            </a:r>
            <a:r>
              <a:rPr lang="en-US" b="1" dirty="0"/>
              <a:t>simple, </a:t>
            </a:r>
          </a:p>
          <a:p>
            <a:r>
              <a:rPr lang="en-US" b="1" dirty="0"/>
              <a:t>user-friendly website</a:t>
            </a:r>
            <a:r>
              <a:rPr lang="en-US" dirty="0"/>
              <a:t> where users can </a:t>
            </a:r>
            <a:r>
              <a:rPr lang="en-US" b="1" dirty="0"/>
              <a:t>upload, check, </a:t>
            </a:r>
          </a:p>
          <a:p>
            <a:r>
              <a:rPr lang="en-US" b="1" dirty="0"/>
              <a:t>and manage</a:t>
            </a:r>
            <a:r>
              <a:rPr lang="en-US" dirty="0"/>
              <a:t> their documents easily.</a:t>
            </a:r>
          </a:p>
          <a:p>
            <a:r>
              <a:rPr lang="en-US" dirty="0"/>
              <a:t> It makes a highly technical system </a:t>
            </a:r>
            <a:r>
              <a:rPr lang="en-US" b="1" dirty="0"/>
              <a:t>look simple for everyone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Together, these technologies make LokHub:</a:t>
            </a:r>
            <a:endParaRPr lang="en-US" dirty="0"/>
          </a:p>
          <a:p>
            <a:r>
              <a:rPr lang="en-US" b="1" dirty="0"/>
              <a:t>Decentralized:</a:t>
            </a:r>
            <a:r>
              <a:rPr lang="en-US" dirty="0"/>
              <a:t> No single point of failure.</a:t>
            </a:r>
          </a:p>
          <a:p>
            <a:r>
              <a:rPr lang="en-US" b="1" dirty="0"/>
              <a:t>Tamper-proof:</a:t>
            </a:r>
            <a:r>
              <a:rPr lang="en-US" dirty="0"/>
              <a:t> Impossible to secretly edit or leak.</a:t>
            </a:r>
          </a:p>
          <a:p>
            <a:r>
              <a:rPr lang="en-US" b="1" dirty="0"/>
              <a:t>Automated:</a:t>
            </a:r>
            <a:r>
              <a:rPr lang="en-US" dirty="0"/>
              <a:t> Rules are enforced without human interference.</a:t>
            </a:r>
          </a:p>
          <a:p>
            <a:r>
              <a:rPr lang="en-US" b="1" dirty="0"/>
              <a:t>User-friendly:</a:t>
            </a:r>
            <a:r>
              <a:rPr lang="en-US" dirty="0"/>
              <a:t> Anyone can use it, even without technical knowledge.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3152B6-81A9-AA23-7736-F96C30770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19" y="2113936"/>
            <a:ext cx="5083278" cy="447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7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A1665-2122-35D3-7D4D-6DC58C056330}"/>
              </a:ext>
            </a:extLst>
          </p:cNvPr>
          <p:cNvSpPr txBox="1"/>
          <p:nvPr/>
        </p:nvSpPr>
        <p:spPr>
          <a:xfrm>
            <a:off x="368710" y="-559415"/>
            <a:ext cx="11631561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                                                                                           </a:t>
            </a:r>
            <a:r>
              <a:rPr lang="en-IN" sz="4000" b="1" u="sng" dirty="0"/>
              <a:t>Security &amp; Uniqueness</a:t>
            </a:r>
            <a:r>
              <a:rPr lang="en-IN" sz="4000" u="sng" dirty="0"/>
              <a:t> </a:t>
            </a:r>
            <a:endParaRPr lang="en-US" sz="4000" b="1" u="sng" dirty="0"/>
          </a:p>
          <a:p>
            <a:endParaRPr lang="en-US" b="1" dirty="0"/>
          </a:p>
          <a:p>
            <a:r>
              <a:rPr lang="en-US" b="1" dirty="0"/>
              <a:t>1. End-to-End Encryption:</a:t>
            </a:r>
            <a:br>
              <a:rPr lang="en-US" dirty="0"/>
            </a:br>
            <a:r>
              <a:rPr lang="en-US" dirty="0"/>
              <a:t>All documents and data are encrypted before storage using advanced cryptographic algorithms, ensuring that only authorized users can access them.</a:t>
            </a:r>
          </a:p>
          <a:p>
            <a:r>
              <a:rPr lang="en-US" b="1" dirty="0"/>
              <a:t>2. Blockchain-Based Integrity:</a:t>
            </a:r>
            <a:br>
              <a:rPr lang="en-US" dirty="0"/>
            </a:br>
            <a:r>
              <a:rPr lang="en-US" dirty="0"/>
              <a:t>Every action—upload, share, or access—is recorded on the blockchain, making tampering or unauthorized changes impossible.</a:t>
            </a:r>
          </a:p>
          <a:p>
            <a:r>
              <a:rPr lang="en-US" b="1" dirty="0"/>
              <a:t>3. Decentralized Storage:</a:t>
            </a:r>
            <a:br>
              <a:rPr lang="en-US" dirty="0"/>
            </a:br>
            <a:r>
              <a:rPr lang="en-US" dirty="0"/>
              <a:t>Documents are stored on </a:t>
            </a:r>
            <a:r>
              <a:rPr lang="en-US" b="1" dirty="0"/>
              <a:t>IPFS</a:t>
            </a:r>
            <a:r>
              <a:rPr lang="en-US" dirty="0"/>
              <a:t> and cloud backups, removing a single point of failure and preventing data loss.</a:t>
            </a:r>
          </a:p>
          <a:p>
            <a:r>
              <a:rPr lang="en-US" b="1" dirty="0"/>
              <a:t>4. Tokenized Access Control:</a:t>
            </a:r>
            <a:br>
              <a:rPr lang="en-US" dirty="0"/>
            </a:br>
            <a:r>
              <a:rPr lang="en-US" dirty="0"/>
              <a:t>Users are assigned unique </a:t>
            </a:r>
            <a:r>
              <a:rPr lang="en-US" b="1" dirty="0"/>
              <a:t>ERC-20 tokens</a:t>
            </a:r>
            <a:r>
              <a:rPr lang="en-US" dirty="0"/>
              <a:t> for </a:t>
            </a:r>
            <a:r>
              <a:rPr lang="en-US" dirty="0" err="1"/>
              <a:t>access,ensuring</a:t>
            </a:r>
            <a:r>
              <a:rPr lang="en-US" dirty="0"/>
              <a:t> only verified individuals can view or modify documents.</a:t>
            </a:r>
          </a:p>
          <a:p>
            <a:r>
              <a:rPr lang="en-US" b="1" dirty="0"/>
              <a:t>5. Unique Digital Identity (DID):</a:t>
            </a:r>
            <a:br>
              <a:rPr lang="en-US" dirty="0"/>
            </a:br>
            <a:r>
              <a:rPr lang="en-US" dirty="0"/>
              <a:t>Every user has a decentralized identity, making impersonation or fraudulent access nearly impossible.</a:t>
            </a:r>
          </a:p>
          <a:p>
            <a:r>
              <a:rPr lang="en-US" b="1" dirty="0"/>
              <a:t>6. Audit Trails and Transparency:</a:t>
            </a:r>
            <a:br>
              <a:rPr lang="en-US" dirty="0"/>
            </a:br>
            <a:r>
              <a:rPr lang="en-US" dirty="0"/>
              <a:t>Complete, immutable logs of every activity,</a:t>
            </a:r>
          </a:p>
          <a:p>
            <a:r>
              <a:rPr lang="en-US" dirty="0"/>
              <a:t> allow instant verification of who accessed what and when.</a:t>
            </a:r>
          </a:p>
          <a:p>
            <a:r>
              <a:rPr lang="en-US" b="1" dirty="0"/>
              <a:t>7. Versatility Across Exam Types:</a:t>
            </a:r>
            <a:br>
              <a:rPr lang="en-US" dirty="0"/>
            </a:br>
            <a:r>
              <a:rPr lang="en-US" dirty="0"/>
              <a:t>Applicable for online and offline exams,</a:t>
            </a:r>
          </a:p>
          <a:p>
            <a:r>
              <a:rPr lang="en-US" dirty="0"/>
              <a:t> LokHub ensures security from paper printing to submission, preventing leaks or insider threats.</a:t>
            </a:r>
          </a:p>
          <a:p>
            <a:r>
              <a:rPr lang="en-US" b="1" dirty="0"/>
              <a:t>Key Uniqueness:</a:t>
            </a:r>
            <a:br>
              <a:rPr lang="en-US" dirty="0"/>
            </a:br>
            <a:r>
              <a:rPr lang="en-US" dirty="0"/>
              <a:t>LokHub combines blockchain, decentralized storage, tokenization, and DID in a single platform—a solution unmatched by traditional systems.</a:t>
            </a:r>
          </a:p>
        </p:txBody>
      </p:sp>
    </p:spTree>
    <p:extLst>
      <p:ext uri="{BB962C8B-B14F-4D97-AF65-F5344CB8AC3E}">
        <p14:creationId xmlns:p14="http://schemas.microsoft.com/office/powerpoint/2010/main" val="281596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626CB-9A95-080D-81AA-1FC2D24F0551}"/>
              </a:ext>
            </a:extLst>
          </p:cNvPr>
          <p:cNvSpPr txBox="1"/>
          <p:nvPr/>
        </p:nvSpPr>
        <p:spPr>
          <a:xfrm>
            <a:off x="363794" y="216310"/>
            <a:ext cx="1145458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Impact &amp; Use Case</a:t>
            </a:r>
          </a:p>
          <a:p>
            <a:endParaRPr lang="en-US" b="1" dirty="0"/>
          </a:p>
          <a:p>
            <a:r>
              <a:rPr lang="en-US" b="1" dirty="0"/>
              <a:t>1. Exam Security:</a:t>
            </a:r>
            <a:br>
              <a:rPr lang="en-US" dirty="0"/>
            </a:br>
            <a:r>
              <a:rPr lang="en-US" dirty="0"/>
              <a:t>Prevents leaks of question papers and results, making exams fair and trustworthy.</a:t>
            </a:r>
          </a:p>
          <a:p>
            <a:r>
              <a:rPr lang="en-US" b="1" dirty="0"/>
              <a:t>2. Government &amp; College Documents:</a:t>
            </a:r>
            <a:br>
              <a:rPr lang="en-US" dirty="0"/>
            </a:br>
            <a:r>
              <a:rPr lang="en-US" dirty="0"/>
              <a:t>Keeps certificates, IDs, and official records safe and easily verifiable.</a:t>
            </a:r>
          </a:p>
          <a:p>
            <a:r>
              <a:rPr lang="en-US" b="1" dirty="0"/>
              <a:t>3. Students &amp; Professionals:</a:t>
            </a:r>
            <a:br>
              <a:rPr lang="en-US" dirty="0"/>
            </a:br>
            <a:r>
              <a:rPr lang="en-US" dirty="0"/>
              <a:t>Quick access to personal documents anytime, without fear of loss</a:t>
            </a:r>
          </a:p>
          <a:p>
            <a:r>
              <a:rPr lang="en-US" dirty="0"/>
              <a:t> or forgery.</a:t>
            </a:r>
          </a:p>
          <a:p>
            <a:r>
              <a:rPr lang="en-US" b="1" dirty="0"/>
              <a:t>4. Cost &amp; Time Saving:</a:t>
            </a:r>
            <a:br>
              <a:rPr lang="en-US" dirty="0"/>
            </a:br>
            <a:r>
              <a:rPr lang="en-US" dirty="0"/>
              <a:t>Reduces expenses on physical storage, printing, and verification processes.</a:t>
            </a:r>
          </a:p>
          <a:p>
            <a:r>
              <a:rPr lang="en-US" b="1" dirty="0"/>
              <a:t>5. Transparency:</a:t>
            </a:r>
            <a:br>
              <a:rPr lang="en-US" dirty="0"/>
            </a:br>
            <a:r>
              <a:rPr lang="en-US" dirty="0"/>
              <a:t>All actions are recorded, so everyone can check who accessed </a:t>
            </a:r>
          </a:p>
          <a:p>
            <a:r>
              <a:rPr lang="en-US" dirty="0"/>
              <a:t>or modified documents.</a:t>
            </a:r>
          </a:p>
          <a:p>
            <a:r>
              <a:rPr lang="en-US" b="1" dirty="0"/>
              <a:t>6. Use Cases:</a:t>
            </a:r>
            <a:endParaRPr lang="en-US" dirty="0"/>
          </a:p>
          <a:p>
            <a:r>
              <a:rPr lang="en-US" dirty="0"/>
              <a:t>UPSC, JEE, NEET, and other exams</a:t>
            </a:r>
          </a:p>
          <a:p>
            <a:r>
              <a:rPr lang="en-US" dirty="0"/>
              <a:t>College mark sheets and degree certificates</a:t>
            </a:r>
          </a:p>
          <a:p>
            <a:r>
              <a:rPr lang="en-US" dirty="0"/>
              <a:t>Government documents like licenses, permits, and ID proofs</a:t>
            </a:r>
          </a:p>
          <a:p>
            <a:r>
              <a:rPr lang="en-US" dirty="0"/>
              <a:t>Digital notarization and document sharing</a:t>
            </a:r>
          </a:p>
          <a:p>
            <a:r>
              <a:rPr lang="en-US" b="1" dirty="0"/>
              <a:t>Key Impact:</a:t>
            </a:r>
            <a:br>
              <a:rPr lang="en-US" dirty="0"/>
            </a:br>
            <a:r>
              <a:rPr lang="en-US" dirty="0"/>
              <a:t>LokHub creates a </a:t>
            </a:r>
            <a:r>
              <a:rPr lang="en-US" b="1" dirty="0"/>
              <a:t>safer, faster, and more reliable system</a:t>
            </a:r>
            <a:r>
              <a:rPr lang="en-US" dirty="0"/>
              <a:t> for managing </a:t>
            </a:r>
          </a:p>
          <a:p>
            <a:r>
              <a:rPr lang="en-US" dirty="0"/>
              <a:t>and verifying documents—making life easier for students, institutions, </a:t>
            </a:r>
          </a:p>
          <a:p>
            <a:r>
              <a:rPr lang="en-US" dirty="0"/>
              <a:t>and governments.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68ADB-C6D7-464E-237A-10472C8B3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529" y="1720645"/>
            <a:ext cx="4628398" cy="4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5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BFC19B-CA68-F8C1-92DC-50C1A385F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812832"/>
              </p:ext>
            </p:extLst>
          </p:nvPr>
        </p:nvGraphicFramePr>
        <p:xfrm>
          <a:off x="7449574" y="1435510"/>
          <a:ext cx="4240982" cy="478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491">
                  <a:extLst>
                    <a:ext uri="{9D8B030D-6E8A-4147-A177-3AD203B41FA5}">
                      <a16:colId xmlns:a16="http://schemas.microsoft.com/office/drawing/2014/main" val="639020019"/>
                    </a:ext>
                  </a:extLst>
                </a:gridCol>
                <a:gridCol w="2120491">
                  <a:extLst>
                    <a:ext uri="{9D8B030D-6E8A-4147-A177-3AD203B41FA5}">
                      <a16:colId xmlns:a16="http://schemas.microsoft.com/office/drawing/2014/main" val="3503690389"/>
                    </a:ext>
                  </a:extLst>
                </a:gridCol>
              </a:tblGrid>
              <a:tr h="708993">
                <a:tc>
                  <a:txBody>
                    <a:bodyPr/>
                    <a:lstStyle/>
                    <a:p>
                      <a:r>
                        <a:rPr lang="en-US" dirty="0"/>
                        <a:t>Expenditure heads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Cost(INR)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91819"/>
                  </a:ext>
                </a:extLst>
              </a:tr>
              <a:tr h="653914">
                <a:tc>
                  <a:txBody>
                    <a:bodyPr/>
                    <a:lstStyle/>
                    <a:p>
                      <a:r>
                        <a:rPr lang="en-US" dirty="0"/>
                        <a:t>Recurring funds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51670"/>
                  </a:ext>
                </a:extLst>
              </a:tr>
              <a:tr h="708993">
                <a:tc>
                  <a:txBody>
                    <a:bodyPr/>
                    <a:lstStyle/>
                    <a:p>
                      <a:r>
                        <a:rPr lang="en-US" dirty="0"/>
                        <a:t>Non-Recurring funds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973158"/>
                  </a:ext>
                </a:extLst>
              </a:tr>
              <a:tr h="708993">
                <a:tc>
                  <a:txBody>
                    <a:bodyPr/>
                    <a:lstStyle/>
                    <a:p>
                      <a:r>
                        <a:rPr lang="en-US" dirty="0"/>
                        <a:t>For Travel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2148"/>
                  </a:ext>
                </a:extLst>
              </a:tr>
              <a:tr h="1293506">
                <a:tc>
                  <a:txBody>
                    <a:bodyPr/>
                    <a:lstStyle/>
                    <a:p>
                      <a:r>
                        <a:rPr lang="en-US" dirty="0"/>
                        <a:t>Miscellaneous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253706"/>
                  </a:ext>
                </a:extLst>
              </a:tr>
              <a:tr h="70899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422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1248B4-83E0-8C6B-19E3-316E8B5DD3B5}"/>
              </a:ext>
            </a:extLst>
          </p:cNvPr>
          <p:cNvSpPr txBox="1"/>
          <p:nvPr/>
        </p:nvSpPr>
        <p:spPr>
          <a:xfrm>
            <a:off x="4522840" y="479011"/>
            <a:ext cx="734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Budget Required</a:t>
            </a:r>
            <a:endParaRPr lang="en-IN" sz="4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45C9E-A1BF-907C-F20D-227CA2C3C92A}"/>
              </a:ext>
            </a:extLst>
          </p:cNvPr>
          <p:cNvSpPr txBox="1"/>
          <p:nvPr/>
        </p:nvSpPr>
        <p:spPr>
          <a:xfrm>
            <a:off x="403123" y="1435510"/>
            <a:ext cx="75790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Non-Recurring Funds – ₹5,00,000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 &amp; UI/UX → ₹1,50,000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 &amp; Smart Contracts → ₹1,50,000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Storage (IPFS + Cloud) → ₹80,000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Security &amp; DID → ₹70,000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Testing &amp; QA → ₹50,000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2. Recurring Funds – ₹2,00,000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Hosting → ₹1,00,000/year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Maintenance &amp; Updates → ₹50,000/year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Misc. Operational Costs → ₹50,000/year</a:t>
            </a:r>
          </a:p>
          <a:p>
            <a:endParaRPr lang="en-IN" b="1" dirty="0"/>
          </a:p>
          <a:p>
            <a:r>
              <a:rPr lang="en-IN" b="1" dirty="0"/>
              <a:t>3. Travel – ₹30,000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Workshops, meetings, hackathons</a:t>
            </a:r>
          </a:p>
          <a:p>
            <a:endParaRPr lang="en-IN" b="1" dirty="0"/>
          </a:p>
          <a:p>
            <a:r>
              <a:rPr lang="en-IN" b="1" dirty="0"/>
              <a:t>4. Miscellaneous – ₹20,000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Contingency for extra tools/expenses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08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E5DD7-E573-1332-B8F2-BE1FAF533854}"/>
              </a:ext>
            </a:extLst>
          </p:cNvPr>
          <p:cNvSpPr txBox="1"/>
          <p:nvPr/>
        </p:nvSpPr>
        <p:spPr>
          <a:xfrm>
            <a:off x="560439" y="422787"/>
            <a:ext cx="11130116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 Future Scope &amp; Industry Applications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Education &amp; Exams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Secure online/offline exams, question paper distribution, result verification.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AI-assisted proctoring and analytics for student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Government &amp; Public Sector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Safe storage and verification of certificates, licenses, and official documents.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Blockchain-based citizen ID and e-governance services.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Corporate &amp; HR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Employee document management, contracts, and compliance verification.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Tokenized access for sensitive internal files.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Healthcare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Secure management of medical records and prescriptions.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Patient-controlled access to personal health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Legal &amp; Finance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Smart contracts for agreements, notarization, and audit trails.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Fraud-proof storage of sensitive financial and legal documents.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Future Tech Enhancements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AI-powered analytics for data insights.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Mobile apps for easy access anywhere.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Scalable to integrate IoT, DeFi, or NFT-based document verification.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57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1566</Words>
  <Application>Microsoft Office PowerPoint</Application>
  <PresentationFormat>Widescreen</PresentationFormat>
  <Paragraphs>157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Office Theme</vt:lpstr>
      <vt:lpstr>Lokhub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joshi</dc:creator>
  <cp:lastModifiedBy>shashank joshi</cp:lastModifiedBy>
  <cp:revision>3</cp:revision>
  <dcterms:created xsi:type="dcterms:W3CDTF">2025-08-21T06:05:28Z</dcterms:created>
  <dcterms:modified xsi:type="dcterms:W3CDTF">2026-04-01T18:19:14Z</dcterms:modified>
</cp:coreProperties>
</file>